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开场（约 25 秒）：</a:t>
            </a:r>
          </a:p>
          <a:p>
            <a:r>
              <a:t>先给大家一个数字：2012 年 ImageNet 竞赛，传统方法最好成绩错误率约 26%，AlexNet 用深度网络做到约 15%——一年之内把整个领域推进了一大步。今天这节课不追求公式推导，我想让大家带走三样东西：深度学习到底在学什么、它怎么被训练出来、以及为什么它有效。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35 秒）</a:t>
            </a:r>
          </a:p>
          <a:p>
            <a:r>
              <a:t>深度学习不是新概念，感知机 1958 年就有了。它真正起飞是在三件事凑齐之后：数据（ImageNet 上千万张标注图）、算力（GPU 把矩阵乘法加速上百倍）、以及可用的训练方法（ReLU、Dropout、批归一化这些工程技巧）。</a:t>
            </a:r>
          </a:p>
          <a:p>
            <a:r>
              <a:t>这句话是本页的核心：不是我们更会写规则了，而是我们不再写规则了。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40 秒）</a:t>
            </a:r>
          </a:p>
          <a:p>
            <a:r>
              <a:t>这是全课最重要的一句话：深度学习改的是「特征从哪来」。</a:t>
            </a:r>
          </a:p>
          <a:p>
            <a:r>
              <a:t>左边：传统方法要人写 SIFT、HOG 这样的特征描述子。右边：网络自己一层层学。下面这张金字塔说明它的位置——AI 是目标，机器学习是方法，深度学习是其中一类方法，生成式模型是它现在最活跃的应用形态。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40 秒）</a:t>
            </a:r>
          </a:p>
          <a:p>
            <a:r>
              <a:t>讲这一页是为了防止初学者把深度学习当成万能药。</a:t>
            </a:r>
          </a:p>
          <a:p>
            <a:r>
              <a:t>一句话判据：人能一眼标出答案、并且能凑出上万条同类样本的任务，深度学习很强；要求可解释、需要严密推理、或者数据很少的任务，要么别用，要么必须做额外的验证。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50 秒）</a:t>
            </a:r>
          </a:p>
          <a:p>
            <a:r>
              <a:t>先看单个神经元：把输入加权求和、加上偏置，再过一个激活函数。就这么简单。</a:t>
            </a:r>
          </a:p>
          <a:p>
            <a:r>
              <a:t>关键在于「堆叠」。左图每一根线是一个权重，同一层的所有神经元合起来就是一次矩阵乘法；所以整个网络可以写成一个复合函数，而复合函数是可以求导的 —— 这句话是后面能训练的前提。</a:t>
            </a:r>
          </a:p>
          <a:p>
            <a:r>
              <a:t>请大家记住右图这个式子 h1 = σ(W1·x + b1)，它就是一层网络的完整定义。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45 秒）</a:t>
            </a:r>
          </a:p>
          <a:p>
            <a:r>
              <a:t>这一页是初学者最容易忽略、但最重要的一点。</a:t>
            </a:r>
          </a:p>
          <a:p>
            <a:r>
              <a:t>如果每层都只有矩阵乘法，那么两层线性叠起来还是线性 —— 三层也一样，堆再深都等价于一层。这也是 1969 年 XOR 问题让神经网络研究停滞的原因：单层感知机连异或都分不开。</a:t>
            </a:r>
          </a:p>
          <a:p>
            <a:r>
              <a:t>加上激活函数之后，网络就有了「拐弯」的能力，可以逼近任意复杂的函数。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50 秒）</a:t>
            </a:r>
          </a:p>
          <a:p>
            <a:r>
              <a:t>怎么知道自己调参调对了？把「模型有多差」压缩成一个数，就是损失函数 L。</a:t>
            </a:r>
          </a:p>
          <a:p>
            <a:r>
              <a:t>图上这条曲线是损失随某个参数变化的样子。红线的斜率就是梯度，它告诉我们往哪个方向走损失会上升，所以我们要往反方向走。</a:t>
            </a:r>
          </a:p>
          <a:p>
            <a:r>
              <a:t>更新公式 w ← w − η·∂L/∂w 里，η 是学习率：太小收敛慢，太大学不动甚至发散。</a:t>
            </a:r>
          </a:p>
          <a:p>
            <a:r>
              <a:t>要强调的是：真实网络有几百万到上千亿个参数，但逻辑就是这一张图。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55 秒）</a:t>
            </a:r>
          </a:p>
          <a:p>
            <a:r>
              <a:t>把上一步放大，就是这四拍：前向传播算出预测，损失函数算出差距，反向传播用链式法则把梯度传回每一个参数，优化器更新参数并清零梯度。</a:t>
            </a:r>
          </a:p>
          <a:p>
            <a:r>
              <a:t>一轮通常只处理一个 mini-batch，几十到几百条样本；把整个数据集跑一遍叫一个 epoch。</a:t>
            </a:r>
          </a:p>
          <a:p>
            <a:r>
              <a:t>这里有个常见误区：很多人以为「推理」也要走完整套流程。其实推理只有第一步前向，所以训练慢、推理快。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40 秒）</a:t>
            </a:r>
          </a:p>
          <a:p>
            <a:r>
              <a:t>这两件事经常被混在一起，其实分工很清楚：损失函数回答「哪里错了」，反向传播回答「每个参数各错多少」。</a:t>
            </a:r>
          </a:p>
          <a:p>
            <a:r>
              <a:t>分类用交叉熵，回归用 MSE，这个对应关系要记住。</a:t>
            </a:r>
          </a:p>
          <a:p>
            <a:r>
              <a:t>中间这张计算图是关键：前向从左到右算出损失，反向从右到左，每退一步就乘上这一步的局部导数 —— 这就是链式法则，也是所有深度学习框架自动求导的原理。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35 秒）</a:t>
            </a:r>
          </a:p>
          <a:p>
            <a:r>
              <a:t>这一页偏实用。初学阶段记一条就够：默认用 AdamW，学习率先设 1e-3 试。</a:t>
            </a:r>
          </a:p>
          <a:p>
            <a:r>
              <a:t>学习率是整个训练里最值得花时间调的参数。经验做法是「先大后小」：前期大步快跑，后期小步精修。</a:t>
            </a:r>
          </a:p>
          <a:p>
            <a:r>
              <a:t>批大小和学习率通常是联动的，批越大，学习率可以相应调大。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45 秒）</a:t>
            </a:r>
          </a:p>
          <a:p>
            <a:r>
              <a:t>注意看这三个图。左边模型太简单，训练集都拟合不好，叫欠拟合。中间刚好。右边最危险：它几乎穿过了每一个训练点，但面对新数据时误差反而更大。</a:t>
            </a:r>
          </a:p>
          <a:p>
            <a:r>
              <a:t>这就是为什么我们训练时真正盯的不是训练误差，而是验证集上的误差。训练误差一直降、验证误差开始涨，那个点就是该停的地方。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35 秒）</a:t>
            </a:r>
          </a:p>
          <a:p>
            <a:r>
              <a:t>过拟合有解，而且第一优先永远是「加数据」，不是调模型。</a:t>
            </a:r>
          </a:p>
          <a:p>
            <a:r>
              <a:t>下面这条红线请大家务必记住：数据要分成训练、验证、测试三份。训练集学参数，验证集选超参数，测试集只在最后用一次。拿测试集反复调参，本质上就是在偷偷过拟合测试集。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45 秒）</a:t>
            </a:r>
          </a:p>
          <a:p>
            <a:r>
              <a:t>最后用一个具体例子把「学表示」落到实处。</a:t>
            </a:r>
          </a:p>
          <a:p>
            <a:r>
              <a:t>卷积网络有三条很朴素的设计：局部连接（只看小窗口）、权重共享（同一个检测器扫过整张图）、以及逐层堆叠。结果就是：浅层学边缘，中层学纹理和部件，深层组合出整只猫。</a:t>
            </a:r>
          </a:p>
          <a:p>
            <a:r>
              <a:t>对比一下：传统方法要靠人设计 SIFT、HOG；深度学习把这部分也交给了数据 —— 这就是前面那句「学表示」的具体含义。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35 秒）</a:t>
            </a:r>
          </a:p>
          <a:p>
            <a:r>
              <a:t>为什么强调「深」？这张图用同样数量的 ReLU 单元做对比。</a:t>
            </a:r>
          </a:p>
          <a:p>
            <a:r>
              <a:t>浅层网络只能拼出很少的折点，所以它只能粗略地跟随目标函数；把同样的单元组织成多层，组合出的折点就多得多，能拼出陡峭的变化。</a:t>
            </a:r>
          </a:p>
          <a:p>
            <a:r>
              <a:t>直观理解：浅层在直接拟合函数本身，深层在「逐级复用」中间结果。这就是深度的价值。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35 秒）</a:t>
            </a:r>
          </a:p>
          <a:p>
            <a:r>
              <a:t>这是我想留给大家的工程经验，也是我自己踩过的坑。</a:t>
            </a:r>
          </a:p>
          <a:p>
            <a:r>
              <a:t>尤其是「先跑基线」这一条：很多同学一上来就搭一个很深的网络，结果既没有对照、也不知道问题出在哪里。</a:t>
            </a:r>
          </a:p>
          <a:p>
            <a:r>
              <a:t>下面这句话可以带走：深度学习里九成的失败，不是模型不够深，是数据或评估出了问题。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40 秒）</a:t>
            </a:r>
          </a:p>
          <a:p>
            <a:r>
              <a:t>把前面所有概念收进 20 行代码。</a:t>
            </a:r>
          </a:p>
          <a:p>
            <a:r>
              <a:t>模型部分是三层全连接加 ReLU，正是「加权求和 + 非线性」的堆叠。损失用 CrossEntropyLoss，优化器用 AdamW。</a:t>
            </a:r>
          </a:p>
          <a:p>
            <a:r>
              <a:t>最底下这五行就是前面那张训练循环图的逐行翻译。</a:t>
            </a:r>
          </a:p>
          <a:p>
            <a:r>
              <a:t>特别提醒 opt.zero_grad()：PyTorch 里梯度是累加的，忘了清零是新手最常见的 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25 秒）</a:t>
            </a:r>
          </a:p>
          <a:p>
            <a:r>
              <a:t>回顾一下今天讲的四句话：学表示、四拍循环、非线性是前提、关键在泛化。</a:t>
            </a:r>
          </a:p>
          <a:p>
            <a:r>
              <a:t>最后给大家一个可操作的作业：把那 20 行代码跑起来，然后做三个小实验 —— 把网络加深、去掉 ReLU、把训练集缩小到 1/10，分别观察验证集损失怎么变。做完这三个实验，今天讲的东西你就真正掌握了。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12848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12848"/>
            <a:ext cx="12191695" cy="64008"/>
          </a:xfrm>
          <a:prstGeom prst="rect">
            <a:avLst/>
          </a:prstGeom>
          <a:solidFill>
            <a:srgbClr val="33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FB4D0"/>
                </a:solidFill>
                <a:latin typeface="Microsoft YaHei"/>
              </a:rPr>
              <a:t>机器学习 · 入门课 · 第 4 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YaHei"/>
              </a:rPr>
              <a:t>深度学习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9105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8D6E8"/>
                </a:solidFill>
                <a:latin typeface="Microsoft YaHei"/>
              </a:rPr>
              <a:t>从「一个神经元」到「会自己找特征」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4203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55FF"/>
                </a:solidFill>
                <a:latin typeface="Microsoft YaHei"/>
              </a:rPr>
              <a:t>这次课要回答的三个问题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0779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2B384A"/>
                </a:solidFill>
                <a:latin typeface="Microsoft YaHei"/>
              </a:rPr>
              <a:t>是什么　深度学习在学什么？—— 学「表示」，而不是学规则。</a:t>
            </a:r>
          </a:p>
          <a:p>
            <a:pPr algn="l">
              <a:spcBef>
                <a:spcPts val="1000"/>
              </a:spcBef>
            </a:pPr>
            <a:r>
              <a:rPr sz="1550" b="0" i="0">
                <a:solidFill>
                  <a:srgbClr val="2B384A"/>
                </a:solidFill>
                <a:latin typeface="Microsoft YaHei"/>
              </a:rPr>
              <a:t>怎么训　网络怎么从数据里把参数调出来？—— 前向、损失、反向、更新。</a:t>
            </a:r>
          </a:p>
          <a:p>
            <a:pPr algn="l">
              <a:spcBef>
                <a:spcPts val="1000"/>
              </a:spcBef>
            </a:pPr>
            <a:r>
              <a:rPr sz="1550" b="0" i="0">
                <a:solidFill>
                  <a:srgbClr val="2B384A"/>
                </a:solidFill>
                <a:latin typeface="Microsoft YaHei"/>
              </a:rPr>
              <a:t>为什么行　为什么深、为什么非线性、为什么 CNN 适合图像？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704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Microsoft YaHei"/>
              </a:rPr>
              <a:t>预计授课时长 10 分钟   ·   面向零基础初学者</a:t>
            </a:r>
          </a:p>
        </p:txBody>
      </p:sp>
      <p:pic>
        <p:nvPicPr>
          <p:cNvPr id="10" name="Picture 9" descr="a01_network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980276"/>
            <a:ext cx="5870448" cy="24244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55FF"/>
                </a:solidFill>
                <a:latin typeface="Microsoft YaHei"/>
              </a:rPr>
              <a:t>开场 · 一个问题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深度学习为什么会突然“行”了？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53312"/>
            <a:ext cx="3478682" cy="1481328"/>
          </a:xfrm>
          <a:prstGeom prst="roundRect">
            <a:avLst>
              <a:gd name="adj" fmla="val 8000"/>
            </a:avLst>
          </a:prstGeom>
          <a:solidFill>
            <a:srgbClr val="EC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53312"/>
            <a:ext cx="50292" cy="1481328"/>
          </a:xfrm>
          <a:prstGeom prst="roundRect">
            <a:avLst>
              <a:gd name="adj" fmla="val 50000"/>
            </a:avLst>
          </a:prstGeom>
          <a:solidFill>
            <a:srgbClr val="33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355FF"/>
                </a:solidFill>
                <a:latin typeface="Microsoft YaHei"/>
              </a:rPr>
              <a:t>2012 · AlexNet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00319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B384A"/>
                </a:solidFill>
                <a:latin typeface="Microsoft YaHei"/>
              </a:rPr>
              <a:t>ImageNet 图像分类</a:t>
            </a:r>
          </a:p>
          <a:p>
            <a:pPr algn="l">
              <a:lnSpc>
                <a:spcPct val="122000"/>
              </a:lnSpc>
              <a:spcBef>
                <a:spcPts val="500"/>
              </a:spcBef>
            </a:pPr>
            <a:r>
              <a:rPr sz="1350" b="0" i="0">
                <a:solidFill>
                  <a:srgbClr val="2B384A"/>
                </a:solidFill>
                <a:latin typeface="Microsoft YaHei"/>
              </a:rPr>
              <a:t>错误率 26% → 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506" y="1353312"/>
            <a:ext cx="3478682" cy="1481328"/>
          </a:xfrm>
          <a:prstGeom prst="roundRect">
            <a:avLst>
              <a:gd name="adj" fmla="val 8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6506" y="1353312"/>
            <a:ext cx="50292" cy="1481328"/>
          </a:xfrm>
          <a:prstGeom prst="roundRect">
            <a:avLst>
              <a:gd name="adj" fmla="val 50000"/>
            </a:avLst>
          </a:prstGeom>
          <a:solidFill>
            <a:srgbClr val="0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2538" y="1499616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9E8F"/>
                </a:solidFill>
                <a:latin typeface="Microsoft YaHei"/>
              </a:rPr>
              <a:t>2017 · Transformer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1828800"/>
            <a:ext cx="300319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B384A"/>
                </a:solidFill>
                <a:latin typeface="Microsoft YaHei"/>
              </a:rPr>
              <a:t>注意力机制</a:t>
            </a:r>
          </a:p>
          <a:p>
            <a:pPr algn="l">
              <a:lnSpc>
                <a:spcPct val="122000"/>
              </a:lnSpc>
              <a:spcBef>
                <a:spcPts val="500"/>
              </a:spcBef>
            </a:pPr>
            <a:r>
              <a:rPr sz="1350" b="0" i="0">
                <a:solidFill>
                  <a:srgbClr val="2B384A"/>
                </a:solidFill>
                <a:latin typeface="Microsoft YaHei"/>
              </a:rPr>
              <a:t>统一 NLP / 视觉 / 语音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6084" y="1353312"/>
            <a:ext cx="3478682" cy="1481328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46084" y="1353312"/>
            <a:ext cx="50292" cy="1481328"/>
          </a:xfrm>
          <a:prstGeom prst="roundRect">
            <a:avLst>
              <a:gd name="adj" fmla="val 5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1499616"/>
            <a:ext cx="302148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B56E00"/>
                </a:solidFill>
                <a:latin typeface="Microsoft YaHei"/>
              </a:rPr>
              <a:t>2022 之后 · 大模型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2116" y="1828800"/>
            <a:ext cx="300319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B384A"/>
                </a:solidFill>
                <a:latin typeface="Microsoft YaHei"/>
              </a:rPr>
              <a:t>预训练 + 微调</a:t>
            </a:r>
          </a:p>
          <a:p>
            <a:pPr algn="l">
              <a:lnSpc>
                <a:spcPct val="122000"/>
              </a:lnSpc>
              <a:spcBef>
                <a:spcPts val="500"/>
              </a:spcBef>
            </a:pPr>
            <a:r>
              <a:rPr sz="1350" b="0" i="0">
                <a:solidFill>
                  <a:srgbClr val="2B384A"/>
                </a:solidFill>
                <a:latin typeface="Microsoft YaHei"/>
              </a:rPr>
              <a:t>一个范式覆盖几乎所有任务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44952"/>
            <a:ext cx="11057839" cy="1389888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209544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Microsoft YaHei"/>
              </a:rPr>
              <a:t>真正变了的不是算法有多复杂，而是我们不再手写规则，</a:t>
            </a:r>
          </a:p>
          <a:p>
            <a:pPr algn="l">
              <a:spcBef>
                <a:spcPts val="600"/>
              </a:spcBef>
            </a:pPr>
            <a:r>
              <a:rPr sz="2100" b="1" i="0">
                <a:solidFill>
                  <a:srgbClr val="9FC0FF"/>
                </a:solidFill>
                <a:latin typeface="Microsoft YaHei"/>
              </a:rPr>
              <a:t>而是把「找规律」这件事交给数据和梯度。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67258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B384A"/>
                </a:solidFill>
                <a:latin typeface="Microsoft YaHei"/>
              </a:rPr>
              <a:t>同样的神经网络结构，1950 年代就有雏形 —— 它等了三样东西才真正可用：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5056631"/>
            <a:ext cx="9777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02E"/>
                </a:solidFill>
                <a:latin typeface="Microsoft YaHei"/>
              </a:rPr>
              <a:t>海量数据　·　GPU 算力　·　能被稳定训练的方法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5733288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02E"/>
                </a:solidFill>
                <a:latin typeface="Microsoft YaHei"/>
              </a:rPr>
              <a:t>一句话总结：不是我们更会写规则了，而是我们不再写规则了。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开场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9E8F"/>
                </a:solidFill>
                <a:latin typeface="Microsoft YaHei"/>
              </a:rPr>
              <a:t>概念 · 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深度学习 = 让网络自己学出「表示」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30759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Microsoft YaHei"/>
              </a:rPr>
              <a:t>传统机器学习：人来设计特征　→　模型做分类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39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9E8F"/>
                </a:solidFill>
                <a:latin typeface="Microsoft YaHei"/>
              </a:rPr>
              <a:t>深度学习：网络自己从数据里学出「从低级到高级」的多层表示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3429914" cy="11887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76272"/>
            <a:ext cx="50292" cy="1188720"/>
          </a:xfrm>
          <a:prstGeom prst="roundRect">
            <a:avLst>
              <a:gd name="adj" fmla="val 50000"/>
            </a:avLst>
          </a:prstGeom>
          <a:solidFill>
            <a:srgbClr val="33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355FF"/>
                </a:solidFill>
                <a:latin typeface="Microsoft YaHei"/>
              </a:rPr>
              <a:t>原始输入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B384A"/>
                </a:solidFill>
                <a:latin typeface="Microsoft YaHei"/>
              </a:rPr>
              <a:t>像素 / 文本 token / 数值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8282" y="2770632"/>
            <a:ext cx="201168" cy="0"/>
          </a:xfrm>
          <a:prstGeom prst="line">
            <a:avLst/>
          </a:prstGeom>
          <a:ln w="19050">
            <a:solidFill>
              <a:srgbClr val="D8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0890" y="2176272"/>
            <a:ext cx="3429914" cy="11887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0890" y="2176272"/>
            <a:ext cx="50292" cy="1188720"/>
          </a:xfrm>
          <a:prstGeom prst="roundRect">
            <a:avLst>
              <a:gd name="adj" fmla="val 50000"/>
            </a:avLst>
          </a:prstGeom>
          <a:solidFill>
            <a:srgbClr val="0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922" y="2322576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9E8F"/>
                </a:solidFill>
                <a:latin typeface="Microsoft YaHei"/>
              </a:rPr>
              <a:t>多层表示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922" y="2651760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B384A"/>
                </a:solidFill>
                <a:latin typeface="Microsoft YaHei"/>
              </a:rPr>
              <a:t>每一层在前一层之上组合出更抽象的特征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2244" y="2770632"/>
            <a:ext cx="201168" cy="0"/>
          </a:xfrm>
          <a:prstGeom prst="line">
            <a:avLst/>
          </a:prstGeom>
          <a:ln w="19050">
            <a:solidFill>
              <a:srgbClr val="D8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94852" y="2176272"/>
            <a:ext cx="3429914" cy="11887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4852" y="2176272"/>
            <a:ext cx="50292" cy="1188720"/>
          </a:xfrm>
          <a:prstGeom prst="roundRect">
            <a:avLst>
              <a:gd name="adj" fmla="val 5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0884" y="2322576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56E00"/>
                </a:solidFill>
                <a:latin typeface="Microsoft YaHei"/>
              </a:rPr>
              <a:t>预测输出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0884" y="2651760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B384A"/>
                </a:solidFill>
                <a:latin typeface="Microsoft YaHei"/>
              </a:rPr>
              <a:t>用最后一层表示完成分类或回归</a:t>
            </a:r>
          </a:p>
        </p:txBody>
      </p:sp>
      <p:pic>
        <p:nvPicPr>
          <p:cNvPr id="21" name="Picture 20" descr="a08_hierarchy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04" y="3456432"/>
            <a:ext cx="10893286" cy="2505456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566928" y="6007607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9E8F"/>
                </a:solidFill>
                <a:latin typeface="Microsoft YaHei"/>
              </a:rPr>
              <a:t>「特征从哪来」被改写了：不再由人设计，而是由数据一层层学出来。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概念 · 定义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2F3A"/>
                </a:solidFill>
                <a:latin typeface="Microsoft YaHei"/>
              </a:rPr>
              <a:t>概念 · 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它擅长什么，又不擅长什么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53312"/>
            <a:ext cx="5364327" cy="2331720"/>
          </a:xfrm>
          <a:prstGeom prst="roundRect">
            <a:avLst>
              <a:gd name="adj" fmla="val 7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545336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9E8F"/>
                </a:solidFill>
                <a:latin typeface="Microsoft YaHei"/>
              </a:rPr>
              <a:t>擅长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400" b="0" i="0">
                <a:solidFill>
                  <a:srgbClr val="2B384A"/>
                </a:solidFill>
                <a:latin typeface="Microsoft YaHei"/>
              </a:rPr>
              <a:t>·  感知类任务：图像分类、目标检测、语音、翻译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400" b="0" i="0">
                <a:solidFill>
                  <a:srgbClr val="2B384A"/>
                </a:solidFill>
                <a:latin typeface="Microsoft YaHei"/>
              </a:rPr>
              <a:t>·  有大量标注数据，且模式稳定、可重复出现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400" b="0" i="0">
                <a:solidFill>
                  <a:srgbClr val="2B384A"/>
                </a:solidFill>
                <a:latin typeface="Microsoft YaHei"/>
              </a:rPr>
              <a:t>·  输入是高维、结构化很弱的信号（像素、波形、文本）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0439" y="1353312"/>
            <a:ext cx="5364327" cy="2331720"/>
          </a:xfrm>
          <a:prstGeom prst="roundRect">
            <a:avLst>
              <a:gd name="adj" fmla="val 7000"/>
            </a:avLst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1545336"/>
            <a:ext cx="48156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C82F3A"/>
                </a:solidFill>
                <a:latin typeface="Microsoft YaHei"/>
              </a:rPr>
              <a:t>不擅长 / 要小心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400" b="0" i="0">
                <a:solidFill>
                  <a:srgbClr val="2B384A"/>
                </a:solidFill>
                <a:latin typeface="Microsoft YaHei"/>
              </a:rPr>
              <a:t>·  需要严格可解释、可审计的决策（医疗、司法）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400" b="0" i="0">
                <a:solidFill>
                  <a:srgbClr val="2B384A"/>
                </a:solidFill>
                <a:latin typeface="Microsoft YaHei"/>
              </a:rPr>
              <a:t>·  数据极少，或分布随时间明显漂移的场景</a:t>
            </a:r>
          </a:p>
          <a:p>
            <a:pPr algn="l">
              <a:lnSpc>
                <a:spcPct val="120000"/>
              </a:lnSpc>
              <a:spcBef>
                <a:spcPts val="1300"/>
              </a:spcBef>
            </a:pPr>
            <a:r>
              <a:rPr sz="1400" b="0" i="0">
                <a:solidFill>
                  <a:srgbClr val="2B384A"/>
                </a:solidFill>
                <a:latin typeface="Microsoft YaHei"/>
              </a:rPr>
              <a:t>·  需要多步严密逻辑推理的任务，目前仍不稳定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13632"/>
            <a:ext cx="11057839" cy="1188720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105656"/>
            <a:ext cx="10372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02E"/>
                </a:solidFill>
                <a:latin typeface="Microsoft YaHei"/>
              </a:rPr>
              <a:t>判断标准：如果「人看一眼就能给出标签」，而且这种样本能拿到成千上万条 ——</a:t>
            </a:r>
          </a:p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64748B"/>
                </a:solidFill>
                <a:latin typeface="Microsoft YaHei"/>
              </a:rPr>
              <a:t>深度学习通常非常好用。反过来就要格外警惕。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概念 · 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55FF"/>
                </a:solidFill>
                <a:latin typeface="Microsoft YaHei"/>
              </a:rPr>
              <a:t>机制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一个神经网络 = 层叠的加权求和 + 非线性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01_network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16152"/>
            <a:ext cx="10058400" cy="4154119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6007607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02E"/>
                </a:solidFill>
                <a:latin typeface="Microsoft YaHei"/>
              </a:rPr>
              <a:t>每一层都是一次「矩阵乘法 + 加偏置 + 非线性」—— 所以整个网络是可导的复合函数。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机制 · 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2F3A"/>
                </a:solidFill>
                <a:latin typeface="Microsoft YaHei"/>
              </a:rPr>
              <a:t>机制 · 为什么需要非线性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如果没有非线性，深层就白堆了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06_activation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16152"/>
            <a:ext cx="10058400" cy="284652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6007607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82F3A"/>
                </a:solidFill>
                <a:latin typeface="Microsoft YaHei"/>
              </a:rPr>
              <a:t>两层线性叠起来还是线性 —— 堆再深也等价于一层。这就是 1969 年 XOR 让研究停滞的原因。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机制 · 非线性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55FF"/>
                </a:solidFill>
                <a:latin typeface="Microsoft YaHei"/>
              </a:rPr>
              <a:t>机制 · 怎么训练（1/2）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训练 = 沿梯度方向一步步下坡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02_descent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16152"/>
            <a:ext cx="10058400" cy="4445812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6007607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02E"/>
                </a:solidFill>
                <a:latin typeface="Microsoft YaHei"/>
              </a:rPr>
              <a:t>更新公式：w ← w − η · ∂L/∂w　—— 整个深度学习训练，就是这张图上百万次重复。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机制 · 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55FF"/>
                </a:solidFill>
                <a:latin typeface="Microsoft YaHei"/>
              </a:rPr>
              <a:t>机制 · 怎么训练（2/2）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训练循环：四个动作不断重复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03_pipeline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07592"/>
            <a:ext cx="11057839" cy="4080342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5733288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02E"/>
                </a:solidFill>
                <a:latin typeface="Microsoft YaHei"/>
              </a:rPr>
              <a:t>训练慢、推理快：推理只需要第一拍「前向」，没有损失、没有反向、没有更新。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机制 · 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2F3A"/>
                </a:solidFill>
                <a:latin typeface="Microsoft YaHei"/>
              </a:rPr>
              <a:t>机制 · 损失与反向传播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损失函数定方向，反向传播算梯度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30759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B384A"/>
                </a:solidFill>
                <a:latin typeface="Microsoft YaHei"/>
              </a:rPr>
              <a:t>损失函数是一个标量：它给「这一次预测有多差」打分。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73352"/>
            <a:ext cx="11057839" cy="822960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02E"/>
                </a:solidFill>
                <a:latin typeface="Microsoft YaHei"/>
              </a:rPr>
              <a:t>为什么用梯度下降，而不是直接解？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2B384A"/>
                </a:solidFill>
                <a:latin typeface="Microsoft YaHei"/>
              </a:rPr>
              <a:t>参数动辄上亿个，解析解根本写不出来；梯度只要「局部信息」，一次反向传播就能拿到全部参数的梯度。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60904"/>
            <a:ext cx="3503066" cy="914400"/>
          </a:xfrm>
          <a:prstGeom prst="roundRect">
            <a:avLst>
              <a:gd name="adj" fmla="val 8000"/>
            </a:avLst>
          </a:prstGeom>
          <a:solidFill>
            <a:srgbClr val="EC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660904"/>
            <a:ext cx="50292" cy="914400"/>
          </a:xfrm>
          <a:prstGeom prst="roundRect">
            <a:avLst>
              <a:gd name="adj" fmla="val 50000"/>
            </a:avLst>
          </a:prstGeom>
          <a:solidFill>
            <a:srgbClr val="33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07208"/>
            <a:ext cx="304586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355FF"/>
                </a:solidFill>
                <a:latin typeface="Microsoft YaHei"/>
              </a:rPr>
              <a:t>交叉熵 Cross-Entropy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36392"/>
            <a:ext cx="30275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2B384A"/>
                </a:solidFill>
                <a:latin typeface="Microsoft YaHei"/>
              </a:rPr>
              <a:t>分类任务的标准选择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4314" y="2660904"/>
            <a:ext cx="3503066" cy="914400"/>
          </a:xfrm>
          <a:prstGeom prst="roundRect">
            <a:avLst>
              <a:gd name="adj" fmla="val 8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4314" y="2660904"/>
            <a:ext cx="50292" cy="914400"/>
          </a:xfrm>
          <a:prstGeom prst="roundRect">
            <a:avLst>
              <a:gd name="adj" fmla="val 50000"/>
            </a:avLst>
          </a:prstGeom>
          <a:solidFill>
            <a:srgbClr val="0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0346" y="2807208"/>
            <a:ext cx="304586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9E8F"/>
                </a:solidFill>
                <a:latin typeface="Microsoft YaHei"/>
              </a:rPr>
              <a:t>均方误差 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346" y="3136392"/>
            <a:ext cx="30275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2B384A"/>
                </a:solidFill>
                <a:latin typeface="Microsoft YaHei"/>
              </a:rPr>
              <a:t>回归任务：预测连续值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1700" y="2660904"/>
            <a:ext cx="3503066" cy="9144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1700" y="2660904"/>
            <a:ext cx="50292" cy="914400"/>
          </a:xfrm>
          <a:prstGeom prst="roundRect">
            <a:avLst>
              <a:gd name="adj" fmla="val 5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7732" y="2807208"/>
            <a:ext cx="304586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56E00"/>
                </a:solidFill>
                <a:latin typeface="Microsoft YaHei"/>
              </a:rPr>
              <a:t>对比 / 三元组损失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7732" y="3136392"/>
            <a:ext cx="30275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2B384A"/>
                </a:solidFill>
                <a:latin typeface="Microsoft YaHei"/>
              </a:rPr>
              <a:t>让相似的样本在表示空间里靠近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2B384A"/>
                </a:solidFill>
                <a:latin typeface="Microsoft YaHei"/>
              </a:rPr>
              <a:t>反向传播 = 链式法则的高效实现：从输出端把误差一层层往回“摊”给每个参数。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33672"/>
            <a:ext cx="2048256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33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398264"/>
            <a:ext cx="20482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355FF"/>
                </a:solidFill>
                <a:latin typeface="Microsoft YaHei"/>
              </a:rPr>
              <a:t>x</a:t>
            </a:r>
          </a:p>
          <a:p>
            <a:pPr algn="ctr"/>
            <a:r>
              <a:rPr sz="1300" b="1" i="0">
                <a:solidFill>
                  <a:srgbClr val="3355FF"/>
                </a:solidFill>
                <a:latin typeface="Microsoft YaHei"/>
              </a:rPr>
              <a:t>输入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42616" y="4581144"/>
            <a:ext cx="146304" cy="0"/>
          </a:xfrm>
          <a:prstGeom prst="line">
            <a:avLst/>
          </a:prstGeom>
          <a:ln w="20320">
            <a:solidFill>
              <a:srgbClr val="D8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816352" y="4233672"/>
            <a:ext cx="2048256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0E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4462272"/>
            <a:ext cx="20482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9E8F"/>
                </a:solidFill>
                <a:latin typeface="Microsoft YaHei"/>
              </a:rPr>
              <a:t>z = Wx+b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2040" y="4581144"/>
            <a:ext cx="146304" cy="0"/>
          </a:xfrm>
          <a:prstGeom prst="line">
            <a:avLst/>
          </a:prstGeom>
          <a:ln w="20320">
            <a:solidFill>
              <a:srgbClr val="D8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65776" y="4233672"/>
            <a:ext cx="2048256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0E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5776" y="4462272"/>
            <a:ext cx="20482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9E8F"/>
                </a:solidFill>
                <a:latin typeface="Microsoft YaHei"/>
              </a:rPr>
              <a:t>σ(z)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41464" y="4581144"/>
            <a:ext cx="146304" cy="0"/>
          </a:xfrm>
          <a:prstGeom prst="line">
            <a:avLst/>
          </a:prstGeom>
          <a:ln w="20320">
            <a:solidFill>
              <a:srgbClr val="D8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0" y="4233672"/>
            <a:ext cx="2048256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33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462272"/>
            <a:ext cx="20482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355FF"/>
                </a:solidFill>
                <a:latin typeface="Microsoft YaHei"/>
              </a:rPr>
              <a:t>ŷ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4581144"/>
            <a:ext cx="146304" cy="0"/>
          </a:xfrm>
          <a:prstGeom prst="line">
            <a:avLst/>
          </a:prstGeom>
          <a:ln w="20320">
            <a:solidFill>
              <a:srgbClr val="D8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564624" y="4233672"/>
            <a:ext cx="2048256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B5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64624" y="4462272"/>
            <a:ext cx="20482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B56E00"/>
                </a:solidFill>
                <a:latin typeface="Microsoft YaHei"/>
              </a:rPr>
              <a:t>L(ŷ, 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0017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Microsoft YaHei"/>
              </a:rPr>
              <a:t>前向：从左到右算出损失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500176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82F3A"/>
                </a:solidFill>
                <a:latin typeface="Microsoft YaHei"/>
              </a:rPr>
              <a:t>反向：从右到左，每一步乘上局部导数 ∂L/∂z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591056" y="5404104"/>
            <a:ext cx="8997696" cy="0"/>
          </a:xfrm>
          <a:prstGeom prst="line">
            <a:avLst/>
          </a:prstGeom>
          <a:ln w="20320">
            <a:solidFill>
              <a:srgbClr val="C82F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66928" y="6007607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82F3A"/>
                </a:solidFill>
                <a:latin typeface="Microsoft YaHei"/>
              </a:rPr>
              <a:t>每一步的梯度 = 上游梯度 × 本步局部导数 —— 这就是所有框架「自动求导」的原理。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机制 · 损失与反向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9E8F"/>
                </a:solidFill>
                <a:latin typeface="Microsoft YaHei"/>
              </a:rPr>
              <a:t>机制 · 优化器与训练技巧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决定「每一步怎么走」的东西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30759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B384A"/>
                </a:solidFill>
                <a:latin typeface="Microsoft YaHei"/>
              </a:rPr>
              <a:t>梯度只给出方向，具体怎么迈这一步，由优化器决定。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1057839" cy="621792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0292" cy="621792"/>
          </a:xfrm>
          <a:prstGeom prst="roundRect">
            <a:avLst>
              <a:gd name="adj" fmla="val 50000"/>
            </a:avLst>
          </a:prstGeom>
          <a:solidFill>
            <a:srgbClr val="33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5681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3355FF"/>
                </a:solidFill>
                <a:latin typeface="Microsoft YaHei"/>
              </a:rPr>
              <a:t>SGD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1956816"/>
            <a:ext cx="7948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B384A"/>
                </a:solidFill>
                <a:latin typeface="Microsoft YaHei"/>
              </a:rPr>
              <a:t>最朴素的梯度下降：每步只看一个 mini-batch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32888"/>
            <a:ext cx="11057839" cy="621792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2532888"/>
            <a:ext cx="50292" cy="621792"/>
          </a:xfrm>
          <a:prstGeom prst="roundRect">
            <a:avLst>
              <a:gd name="adj" fmla="val 50000"/>
            </a:avLst>
          </a:prstGeom>
          <a:solidFill>
            <a:srgbClr val="0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70662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9E8F"/>
                </a:solidFill>
                <a:latin typeface="Microsoft YaHei"/>
              </a:rPr>
              <a:t>动量 Momentum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706624"/>
            <a:ext cx="7948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B384A"/>
                </a:solidFill>
                <a:latin typeface="Microsoft YaHei"/>
              </a:rPr>
              <a:t>累积历史方向，减少震荡、加速穿过平坦区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82696"/>
            <a:ext cx="11057839" cy="621792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282696"/>
            <a:ext cx="50292" cy="621792"/>
          </a:xfrm>
          <a:prstGeom prst="roundRect">
            <a:avLst>
              <a:gd name="adj" fmla="val 5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4564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B56E00"/>
                </a:solidFill>
                <a:latin typeface="Microsoft YaHei"/>
              </a:rPr>
              <a:t>Adam / AdamW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3456432"/>
            <a:ext cx="7948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B384A"/>
                </a:solidFill>
                <a:latin typeface="Microsoft YaHei"/>
              </a:rPr>
              <a:t>自适应地为每个参数调步长 —— 目前最常用的默认选择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87952"/>
            <a:ext cx="11057839" cy="960120"/>
          </a:xfrm>
          <a:prstGeom prst="roundRect">
            <a:avLst>
              <a:gd name="adj" fmla="val 7000"/>
            </a:avLst>
          </a:prstGeom>
          <a:solidFill>
            <a:srgbClr val="EC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361688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02E"/>
                </a:solidFill>
                <a:latin typeface="Microsoft YaHei"/>
              </a:rPr>
              <a:t>学习率是最重要的超参数：常用做法是先用较大学习率快速下降，再逐步衰减（cosine / step 调度），后期精细收敛。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机制 · 优化器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56E00"/>
                </a:solidFill>
                <a:latin typeface="Microsoft YaHei"/>
              </a:rPr>
              <a:t>机制 · 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训练得好 ≠ 学得好：欠拟合 / 过拟合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04_fit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07592"/>
            <a:ext cx="11057839" cy="32399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机制 · 泛化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56E00"/>
                </a:solidFill>
                <a:latin typeface="Microsoft YaHei"/>
              </a:rPr>
              <a:t>机制 · 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对付过拟合：一套组合拳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80744"/>
            <a:ext cx="5364327" cy="107899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80744"/>
            <a:ext cx="50292" cy="1078992"/>
          </a:xfrm>
          <a:prstGeom prst="roundRect">
            <a:avLst>
              <a:gd name="adj" fmla="val 50000"/>
            </a:avLst>
          </a:prstGeom>
          <a:solidFill>
            <a:srgbClr val="33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27048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3355FF"/>
                </a:solidFill>
                <a:latin typeface="Microsoft YaHei"/>
              </a:rPr>
              <a:t>更多数据 / 数据增强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56231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B384A"/>
                </a:solidFill>
                <a:latin typeface="Microsoft YaHei"/>
              </a:rPr>
              <a:t>最有效，也最容易被忽略：旋转、裁剪、加噪都是廉价的新样本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439" y="1380744"/>
            <a:ext cx="5364327" cy="107899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0439" y="1380744"/>
            <a:ext cx="50292" cy="1078992"/>
          </a:xfrm>
          <a:prstGeom prst="roundRect">
            <a:avLst>
              <a:gd name="adj" fmla="val 50000"/>
            </a:avLst>
          </a:prstGeom>
          <a:solidFill>
            <a:srgbClr val="0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6471" y="1527048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9E8F"/>
                </a:solidFill>
                <a:latin typeface="Microsoft YaHei"/>
              </a:rPr>
              <a:t>正则化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471" y="1856231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B384A"/>
                </a:solidFill>
                <a:latin typeface="Microsoft YaHei"/>
              </a:rPr>
              <a:t>L2 权重衰减、Dropout：限制模型「记死答案」的能力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06040"/>
            <a:ext cx="5364327" cy="107899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606040"/>
            <a:ext cx="50292" cy="1078992"/>
          </a:xfrm>
          <a:prstGeom prst="roundRect">
            <a:avLst>
              <a:gd name="adj" fmla="val 5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52344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B56E00"/>
                </a:solidFill>
                <a:latin typeface="Microsoft YaHei"/>
              </a:rPr>
              <a:t>早停 Early Stopping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81528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B384A"/>
                </a:solidFill>
                <a:latin typeface="Microsoft YaHei"/>
              </a:rPr>
              <a:t>验证集损失不再下降就停下，别把训练集背下来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2606040"/>
            <a:ext cx="5364327" cy="107899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0439" y="2606040"/>
            <a:ext cx="50292" cy="1078992"/>
          </a:xfrm>
          <a:prstGeom prst="roundRect">
            <a:avLst>
              <a:gd name="adj" fmla="val 50000"/>
            </a:avLst>
          </a:prstGeom>
          <a:solidFill>
            <a:srgbClr val="C8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6471" y="2752344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C82F3A"/>
                </a:solidFill>
                <a:latin typeface="Microsoft YaHei"/>
              </a:rPr>
              <a:t>更简单的模型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3081528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B384A"/>
                </a:solidFill>
                <a:latin typeface="Microsoft YaHei"/>
              </a:rPr>
              <a:t>参数少一点、层浅一点；容量要和数据量匹配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959352"/>
            <a:ext cx="11057839" cy="1170432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42232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训练集用来学，验证集用来选，测试集只用一次 —— 绝不能拿测试集调参。</a:t>
            </a:r>
          </a:p>
          <a:p>
            <a:pPr algn="l">
              <a:spcBef>
                <a:spcPts val="700"/>
              </a:spcBef>
            </a:pPr>
            <a:r>
              <a:rPr sz="1350" b="0" i="0">
                <a:solidFill>
                  <a:srgbClr val="A8BDD8"/>
                </a:solidFill>
                <a:latin typeface="Microsoft YaHei"/>
              </a:rPr>
              <a:t>这是初学者最常犯、后果最严重的一个错误：测试集一旦被反复使用，它就不再是「没见过的数据」。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机制 · 泛化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9E8F"/>
                </a:solidFill>
                <a:latin typeface="Microsoft YaHei"/>
              </a:rPr>
              <a:t>应用 · 计算机视觉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卷积网络为什么适合图像：分层地“从像素到物体”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05_cnn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16152"/>
            <a:ext cx="10058400" cy="22128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6007607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9E8F"/>
                </a:solidFill>
                <a:latin typeface="Microsoft YaHei"/>
              </a:rPr>
              <a:t>三条设计：局部连接、权重共享、逐层堆叠 —— 参数量因此远小于全连接网络。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应用 · 视觉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9E8F"/>
                </a:solidFill>
                <a:latin typeface="Microsoft YaHei"/>
              </a:rPr>
              <a:t>应用 · 为什么是「深」度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深度为什么重要：同样的参数预算，深比宽更「会拐弯」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07_landscape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16152"/>
            <a:ext cx="10058400" cy="2947111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6007607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9E8F"/>
                </a:solidFill>
                <a:latin typeface="Microsoft YaHei"/>
              </a:rPr>
              <a:t>同样的参数预算，深度换来的是「组合能力」：浅层直接拟合函数，深层逐级复用中间结果。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应用 · 深度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55FF"/>
                </a:solidFill>
                <a:latin typeface="Microsoft YaHei"/>
              </a:rPr>
              <a:t>实践 · 训练一个网络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值得记住的四件事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99032"/>
            <a:ext cx="5364327" cy="115214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99032"/>
            <a:ext cx="50292" cy="1152144"/>
          </a:xfrm>
          <a:prstGeom prst="roundRect">
            <a:avLst>
              <a:gd name="adj" fmla="val 50000"/>
            </a:avLst>
          </a:prstGeom>
          <a:solidFill>
            <a:srgbClr val="33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45336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355FF"/>
                </a:solidFill>
                <a:latin typeface="Microsoft YaHei"/>
              </a:rPr>
              <a:t>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B384A"/>
                </a:solidFill>
                <a:latin typeface="Microsoft YaHei"/>
              </a:rPr>
              <a:t>先看数据：类别是否均衡、有没有泄漏、标签是否干净。数据有问题，模型再好也没用。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439" y="1399032"/>
            <a:ext cx="5364327" cy="115214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0439" y="1399032"/>
            <a:ext cx="50292" cy="1152144"/>
          </a:xfrm>
          <a:prstGeom prst="roundRect">
            <a:avLst>
              <a:gd name="adj" fmla="val 50000"/>
            </a:avLst>
          </a:prstGeom>
          <a:solidFill>
            <a:srgbClr val="0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6471" y="1545336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9E8F"/>
                </a:solidFill>
                <a:latin typeface="Microsoft YaHei"/>
              </a:rPr>
              <a:t>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471" y="1874519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B384A"/>
                </a:solidFill>
                <a:latin typeface="Microsoft YaHei"/>
              </a:rPr>
              <a:t>先跑一个最简单的基线（逻辑回归 / 小网络），有了对照才知道深度网络到底带来了多少提升。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97480"/>
            <a:ext cx="5364327" cy="115214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697480"/>
            <a:ext cx="50292" cy="1152144"/>
          </a:xfrm>
          <a:prstGeom prst="roundRect">
            <a:avLst>
              <a:gd name="adj" fmla="val 5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43784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56E00"/>
                </a:solidFill>
                <a:latin typeface="Microsoft YaHei"/>
              </a:rPr>
              <a:t>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72968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B384A"/>
                </a:solidFill>
                <a:latin typeface="Microsoft YaHei"/>
              </a:rPr>
              <a:t>同时记录训练损失和验证损失、以及关键指标；只看 loss 下降会错过过拟合。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2697480"/>
            <a:ext cx="5364327" cy="1152144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0439" y="2697480"/>
            <a:ext cx="50292" cy="1152144"/>
          </a:xfrm>
          <a:prstGeom prst="roundRect">
            <a:avLst>
              <a:gd name="adj" fmla="val 50000"/>
            </a:avLst>
          </a:prstGeom>
          <a:solidFill>
            <a:srgbClr val="C8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6471" y="2843784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82F3A"/>
                </a:solidFill>
                <a:latin typeface="Microsoft YaHei"/>
              </a:rPr>
              <a:t>可控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3172968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B384A"/>
                </a:solidFill>
                <a:latin typeface="Microsoft YaHei"/>
              </a:rPr>
              <a:t>固定随机种子、记录配置文件、别一次改太多变量 —— 否则无法归因。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96511"/>
            <a:ext cx="11057839" cy="1005840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88536"/>
            <a:ext cx="10372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202E"/>
                </a:solidFill>
                <a:latin typeface="Microsoft YaHei"/>
              </a:rPr>
              <a:t>经验之谈：深度学习里 90% 的失败不是模型不够深，而是数据、标签或评估方式出了问题。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实践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9E8F"/>
                </a:solidFill>
                <a:latin typeface="Microsoft YaHei"/>
              </a:rPr>
              <a:t>实践 · 一个完整例子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20 行代码：从数据到训练循环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53312"/>
            <a:ext cx="7818120" cy="4983480"/>
          </a:xfrm>
          <a:prstGeom prst="roundRect">
            <a:avLst>
              <a:gd name="adj" fmla="val 6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81328"/>
            <a:ext cx="7360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7E8DA6"/>
                </a:solidFill>
                <a:latin typeface="Consolas"/>
              </a:rPr>
              <a:t>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773936"/>
            <a:ext cx="7360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C792FF"/>
                </a:solidFill>
                <a:latin typeface="Consolas"/>
              </a:rPr>
              <a:t>import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torch</a:t>
            </a:r>
          </a:p>
          <a:p>
            <a:pPr>
              <a:lnSpc>
                <a:spcPct val="118000"/>
              </a:lnSpc>
            </a:pPr>
            <a:r>
              <a:rPr sz="1150" b="1" i="0">
                <a:solidFill>
                  <a:srgbClr val="C792FF"/>
                </a:solidFill>
                <a:latin typeface="Consolas"/>
              </a:rPr>
              <a:t>from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torch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  <a:r>
              <a:rPr sz="1150" b="1" i="0">
                <a:solidFill>
                  <a:srgbClr val="C792FF"/>
                </a:solidFill>
                <a:latin typeface="Consolas"/>
              </a:rPr>
              <a:t>import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nn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 b="0" i="1">
                <a:solidFill>
                  <a:srgbClr val="7E8DA6"/>
                </a:solidFill>
                <a:latin typeface="Consolas"/>
              </a:rPr>
              <a:t># 1. 数据：一个 mini-batch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x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=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torch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randn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64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, 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784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)         </a:t>
            </a:r>
            <a:r>
              <a:rPr sz="1150" b="0" i="1">
                <a:solidFill>
                  <a:srgbClr val="7E8DA6"/>
                </a:solidFill>
                <a:latin typeface="Consolas"/>
              </a:rPr>
              <a:t># 64 张 28x28 的图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y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=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torch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randint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0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, 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10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, (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64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,))  </a:t>
            </a:r>
            <a:r>
              <a:rPr sz="1150" b="0" i="1">
                <a:solidFill>
                  <a:srgbClr val="7E8DA6"/>
                </a:solidFill>
                <a:latin typeface="Consolas"/>
              </a:rPr>
              <a:t># 10 个类别的标签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 b="0" i="1">
                <a:solidFill>
                  <a:srgbClr val="7E8DA6"/>
                </a:solidFill>
                <a:latin typeface="Consolas"/>
              </a:rPr>
              <a:t># 2. 模型：三层 MLP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model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=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nn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Sequential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nn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Linear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784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, 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256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),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nn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ReLU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(),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nn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Linear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256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, 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64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), 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nn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ReLU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(),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nn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Linear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64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, 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10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),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 b="0" i="1">
                <a:solidFill>
                  <a:srgbClr val="7E8DA6"/>
                </a:solidFill>
                <a:latin typeface="Consolas"/>
              </a:rPr>
              <a:t># 3. 损失 + 优化器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loss_fn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=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nn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CrossEntropyLoss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()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opt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=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torch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optim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AdamW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model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parameters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(),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lr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=1e-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3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150" b="0" i="1">
                <a:solidFill>
                  <a:srgbClr val="7E8DA6"/>
                </a:solidFill>
                <a:latin typeface="Consolas"/>
              </a:rPr>
              <a:t># 4. 训练循环：正是前面那四拍</a:t>
            </a:r>
          </a:p>
          <a:p>
            <a:pPr>
              <a:lnSpc>
                <a:spcPct val="118000"/>
              </a:lnSpc>
            </a:pPr>
            <a:r>
              <a:rPr sz="1150" b="1" i="0">
                <a:solidFill>
                  <a:srgbClr val="C792FF"/>
                </a:solidFill>
                <a:latin typeface="Consolas"/>
              </a:rPr>
              <a:t>for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step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  <a:r>
              <a:rPr sz="1150" b="1" i="0">
                <a:solidFill>
                  <a:srgbClr val="C792FF"/>
                </a:solidFill>
                <a:latin typeface="Consolas"/>
              </a:rPr>
              <a:t>in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range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</a:t>
            </a:r>
            <a:r>
              <a:rPr sz="1150" b="0" i="0">
                <a:solidFill>
                  <a:srgbClr val="FFB86B"/>
                </a:solidFill>
                <a:latin typeface="Consolas"/>
              </a:rPr>
              <a:t>1000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):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y_hat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=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model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x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)          </a:t>
            </a:r>
            <a:r>
              <a:rPr sz="1150" b="0" i="1">
                <a:solidFill>
                  <a:srgbClr val="7E8DA6"/>
                </a:solidFill>
                <a:latin typeface="Consolas"/>
              </a:rPr>
              <a:t># 前向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loss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 =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loss_fn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y_hat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,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y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)  </a:t>
            </a:r>
            <a:r>
              <a:rPr sz="1150" b="0" i="1">
                <a:solidFill>
                  <a:srgbClr val="7E8DA6"/>
                </a:solidFill>
                <a:latin typeface="Consolas"/>
              </a:rPr>
              <a:t># 算损失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opt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zero_grad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()           </a:t>
            </a:r>
            <a:r>
              <a:rPr sz="1150" b="0" i="1">
                <a:solidFill>
                  <a:srgbClr val="7E8DA6"/>
                </a:solidFill>
                <a:latin typeface="Consolas"/>
              </a:rPr>
              <a:t># 清空旧梯度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loss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backward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()           </a:t>
            </a:r>
            <a:r>
              <a:rPr sz="1150" b="0" i="1">
                <a:solidFill>
                  <a:srgbClr val="7E8DA6"/>
                </a:solidFill>
                <a:latin typeface="Consolas"/>
              </a:rPr>
              <a:t># 反向传播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   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opt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.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step</a:t>
            </a:r>
            <a:r>
              <a:rPr sz="1150" b="0" i="0">
                <a:solidFill>
                  <a:srgbClr val="E6ECF5"/>
                </a:solidFill>
                <a:latin typeface="Consolas"/>
              </a:rPr>
              <a:t>()                </a:t>
            </a:r>
            <a:r>
              <a:rPr sz="1150" b="0" i="1">
                <a:solidFill>
                  <a:srgbClr val="7E8DA6"/>
                </a:solidFill>
                <a:latin typeface="Consolas"/>
              </a:rPr>
              <a:t># 更新参数</a:t>
            </a:r>
          </a:p>
          <a:p>
            <a:pPr>
              <a:lnSpc>
                <a:spcPct val="118000"/>
              </a:lnSpc>
            </a:pPr>
            <a:r>
              <a:rPr sz="1150" b="0" i="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3648" y="1353312"/>
            <a:ext cx="3011119" cy="4983480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545336"/>
            <a:ext cx="2462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02E"/>
                </a:solidFill>
                <a:latin typeface="Microsoft YaHei"/>
              </a:rPr>
              <a:t>对着代码看四拍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14816" y="1965960"/>
            <a:ext cx="2608783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2057400"/>
            <a:ext cx="22795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3355FF"/>
                </a:solidFill>
                <a:latin typeface="Microsoft YaHei"/>
              </a:rPr>
              <a:t>前向传播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2B384A"/>
                </a:solidFill>
                <a:latin typeface="Consolas"/>
              </a:rPr>
              <a:t>y_hat = model(x)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816" y="2834639"/>
            <a:ext cx="2608783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2926079"/>
            <a:ext cx="22795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3355FF"/>
                </a:solidFill>
                <a:latin typeface="Microsoft YaHei"/>
              </a:rPr>
              <a:t>计算损失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2B384A"/>
                </a:solidFill>
                <a:latin typeface="Consolas"/>
              </a:rPr>
              <a:t>loss_fn(y_hat, 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14816" y="3703320"/>
            <a:ext cx="2608783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3794759"/>
            <a:ext cx="22795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3355FF"/>
                </a:solidFill>
                <a:latin typeface="Microsoft YaHei"/>
              </a:rPr>
              <a:t>反向传播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2B384A"/>
                </a:solidFill>
                <a:latin typeface="Consolas"/>
              </a:rPr>
              <a:t>loss.backward()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4816" y="4572000"/>
            <a:ext cx="2608783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4663440"/>
            <a:ext cx="22795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3355FF"/>
                </a:solidFill>
                <a:latin typeface="Microsoft YaHei"/>
              </a:rPr>
              <a:t>更新参数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2B384A"/>
                </a:solidFill>
                <a:latin typeface="Consolas"/>
              </a:rPr>
              <a:t>opt.step()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5532120"/>
            <a:ext cx="2462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C82F3A"/>
                </a:solidFill>
                <a:latin typeface="Microsoft YaHei"/>
              </a:rPr>
              <a:t>注意 opt.zero_grad()：梯度默认累加，不清零会越加越大。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实践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55FF"/>
                </a:solidFill>
                <a:latin typeface="Microsoft YaHei"/>
              </a:rP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02E"/>
                </a:solidFill>
                <a:latin typeface="Microsoft YaHei"/>
              </a:rPr>
              <a:t>带走这四句话就够了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52144"/>
            <a:ext cx="11057839" cy="0"/>
          </a:xfrm>
          <a:prstGeom prst="line">
            <a:avLst/>
          </a:prstGeom>
          <a:ln w="1270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353312"/>
            <a:ext cx="11057839" cy="841248"/>
          </a:xfrm>
          <a:prstGeom prst="roundRect">
            <a:avLst>
              <a:gd name="adj" fmla="val 9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53312"/>
            <a:ext cx="54864" cy="841248"/>
          </a:xfrm>
          <a:prstGeom prst="roundRect">
            <a:avLst>
              <a:gd name="adj" fmla="val 50000"/>
            </a:avLst>
          </a:prstGeom>
          <a:solidFill>
            <a:srgbClr val="33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81328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3355FF"/>
                </a:solidFill>
                <a:latin typeface="Microsoft YaHei"/>
              </a:rPr>
              <a:t>1. 深度学习学的是「表示」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2B384A"/>
                </a:solidFill>
                <a:latin typeface="Microsoft YaHei"/>
              </a:rPr>
              <a:t>不是人手写规则，而是让网络从数据里一层层学出特征。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22576"/>
            <a:ext cx="11057839" cy="841248"/>
          </a:xfrm>
          <a:prstGeom prst="roundRect">
            <a:avLst>
              <a:gd name="adj" fmla="val 9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322576"/>
            <a:ext cx="54864" cy="841248"/>
          </a:xfrm>
          <a:prstGeom prst="roundRect">
            <a:avLst>
              <a:gd name="adj" fmla="val 50000"/>
            </a:avLst>
          </a:prstGeom>
          <a:solidFill>
            <a:srgbClr val="0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450592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E9E8F"/>
                </a:solidFill>
                <a:latin typeface="Microsoft YaHei"/>
              </a:rPr>
              <a:t>2. 训练是四拍循环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2B384A"/>
                </a:solidFill>
                <a:latin typeface="Microsoft YaHei"/>
              </a:rPr>
              <a:t>前向 → 损失 → 反向 → 更新，反复迭代，直到验证集不再变好。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91840"/>
            <a:ext cx="11057839" cy="841248"/>
          </a:xfrm>
          <a:prstGeom prst="roundRect">
            <a:avLst>
              <a:gd name="adj" fmla="val 9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3291840"/>
            <a:ext cx="54864" cy="841248"/>
          </a:xfrm>
          <a:prstGeom prst="roundRect">
            <a:avLst>
              <a:gd name="adj" fmla="val 50000"/>
            </a:avLst>
          </a:prstGeom>
          <a:solidFill>
            <a:srgbClr val="C8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419856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C82F3A"/>
                </a:solidFill>
                <a:latin typeface="Microsoft YaHei"/>
              </a:rPr>
              <a:t>3. 非线性是深度的前提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2B384A"/>
                </a:solidFill>
                <a:latin typeface="Microsoft YaHei"/>
              </a:rPr>
              <a:t>没有激活函数，再深的网络也只是一次线性变换。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61104"/>
            <a:ext cx="11057839" cy="841248"/>
          </a:xfrm>
          <a:prstGeom prst="roundRect">
            <a:avLst>
              <a:gd name="adj" fmla="val 9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4261104"/>
            <a:ext cx="54864" cy="841248"/>
          </a:xfrm>
          <a:prstGeom prst="roundRect">
            <a:avLst>
              <a:gd name="adj" fmla="val 5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389120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B56E00"/>
                </a:solidFill>
                <a:latin typeface="Microsoft YaHei"/>
              </a:rPr>
              <a:t>4. 关键在泛化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2B384A"/>
                </a:solidFill>
                <a:latin typeface="Microsoft YaHei"/>
              </a:rPr>
              <a:t>训练误差低没有意义，新数据上的表现才算数。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85231"/>
            <a:ext cx="11057839" cy="960120"/>
          </a:xfrm>
          <a:prstGeom prst="roundRect">
            <a:avLst>
              <a:gd name="adj" fmla="val 7000"/>
            </a:avLst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477255"/>
            <a:ext cx="102805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如果只记一句：深度学习把「特征工程」这件苦活，交给了数据和梯度。</a:t>
            </a:r>
          </a:p>
          <a:p>
            <a:pPr algn="l">
              <a:spcBef>
                <a:spcPts val="600"/>
              </a:spcBef>
            </a:pPr>
            <a:r>
              <a:rPr sz="1250" b="0" i="0">
                <a:solidFill>
                  <a:srgbClr val="A8BDD8"/>
                </a:solidFill>
                <a:latin typeface="Microsoft YaHei"/>
              </a:rPr>
              <a:t>下一步建议：动手跑一遍上面 20 行代码，然后把模型加宽、加深、去掉 ReLU，观察各自的变化。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77404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YaHei"/>
              </a:rPr>
              <a:t>小结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5967" y="64556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4748B"/>
                </a:solidFill>
                <a:latin typeface="Microsoft YaHe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